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SIH2" Type="http://schemas.openxmlformats.org/officeDocument/2006/relationships/image" Target="../media/sih_fig_requirement_status.png"/><Relationship Id="rIdSIH22" Type="http://schemas.openxmlformats.org/officeDocument/2006/relationships/image" Target="../media/sih_fig_auto_id_ladder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SIH3" Type="http://schemas.openxmlformats.org/officeDocument/2006/relationships/image" Target="../media/sih_fig_workflow_solution.png"/><Relationship Id="rIdSIH32" Type="http://schemas.openxmlformats.org/officeDocument/2006/relationships/image" Target="../media/sih_fig_spectrum.png"/><Relationship Id="rIdSIH33" Type="http://schemas.openxmlformats.org/officeDocument/2006/relationships/image" Target="../media/sih_fig_waterfall.png"/><Relationship Id="rIdSIH34" Type="http://schemas.openxmlformats.org/officeDocument/2006/relationships/image" Target="../media/sih_fig_constellation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SIH4" Type="http://schemas.openxmlformats.org/officeDocument/2006/relationships/image" Target="../media/sih_radioml_confusion.png"/><Relationship Id="rIdSIH42" Type="http://schemas.openxmlformats.org/officeDocument/2006/relationships/image" Target="../media/sih_fig_gui_annotated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SIH5" Type="http://schemas.openxmlformats.org/officeDocument/2006/relationships/image" Target="../media/sih_fig_constellation.png"/><Relationship Id="rIdSIH52" Type="http://schemas.openxmlformats.org/officeDocument/2006/relationships/image" Target="../media/sih_fig_waterfall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 — evidence-scored signal analysis workbench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SIH26147 (PS 147)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Automated model for analysis of .IQ and .wav files along with signal parameter extraction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   ·   Organisation – NTRO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&lt;&lt;TEAM ID&gt;&gt;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&lt;&lt;TEAM NAME&gt;&gt;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SPECTRA — evidence-scored IQ/WAV signal analysis workbench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150000"/>
            <a:ext cx="11800000" cy="43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85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85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85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85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5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5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5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&lt;&lt;TEAM NAME&gt;&gt;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SPECTRA content"/>
          <p:cNvSpPr txBox="1"/>
          <p:nvPr/>
        </p:nvSpPr>
        <p:spPr>
          <a:xfrm>
            <a:off x="182998" y="1680000"/>
            <a:ext cx="5600000" cy="48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Problem: .IQ and .wav store the same waveform differently; manual analysis is slow, operator-dependent and not reproducible — and the missing detail (sampling rate, modulation, FEC, interleaving) is exactly what downstream sensors need.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Solution: one pipeline — load → detect → isolate → parameterise → synchronise → classify → demodulate → FEC / de-interleave → correlate → report.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Every stage returns value + method + confidence + evidence. "Unknown" is a first-class result: a confident wrong answer is worse than no answer.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Covered today: sampling rate / bandwidth / Fc / SNR / symbol rate · modulation (PSK, QAM, FSK, OOK/ASK) + demodulation · 6 FEC schemes (Viterbi, Reed-Solomon, LDPC, concatenated, Hamming, repetition) · 4 interleaver families · sync-word bit-stream correlation · GUI (spectrum, waterfall, constellation).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Innovation: evidence fusion instead of a single-shot guess · honest-Unknown by design · per-stage provenance for audit · closed-loop escalation · fully offline.</a:t>
            </a:r>
          </a:p>
          <a:p>
            <a:pPr marL="0" algn="l"/>
            <a:r>
              <a:rPr lang="en-IN" sz="950" b="1" dirty="0">
                <a:solidFill>
                  <a:srgbClr val="0B4F6C"/>
                </a:solidFill>
              </a:rPr>
              <a:t>Status: 13 of 18 requirement areas built and test-verified in 13 days · 435 tests passing · 11/11 demo captures classified correctly · symbol-rate error ≤ 0.059%.</a:t>
            </a:r>
          </a:p>
        </p:txBody>
      </p:sp>
      <p:pic>
        <p:nvPicPr>
          <p:cNvPr id="15365" name="SPECTRA figure 2-0"/>
          <p:cNvPicPr>
            <a:picLocks noChangeAspect="1"/>
          </p:cNvPicPr>
          <p:nvPr/>
        </p:nvPicPr>
        <p:blipFill>
          <a:blip r:embed="rIdSIH2"/>
          <a:stretch>
            <a:fillRect/>
          </a:stretch>
        </p:blipFill>
        <p:spPr>
          <a:xfrm>
            <a:off x="6600000" y="1700000"/>
            <a:ext cx="5300000" cy="3110869"/>
          </a:xfrm>
          <a:prstGeom prst="rect">
            <a:avLst/>
          </a:prstGeom>
        </p:spPr>
      </p:pic>
      <p:pic>
        <p:nvPicPr>
          <p:cNvPr id="15368" name="SPECTRA figure 2-1"/>
          <p:cNvPicPr>
            <a:picLocks noChangeAspect="1"/>
          </p:cNvPicPr>
          <p:nvPr/>
        </p:nvPicPr>
        <p:blipFill>
          <a:blip r:embed="rIdSIH22"/>
          <a:stretch>
            <a:fillRect/>
          </a:stretch>
        </p:blipFill>
        <p:spPr>
          <a:xfrm>
            <a:off x="6600000" y="4900000"/>
            <a:ext cx="4316923" cy="183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— built, not proposed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50000"/>
            <a:ext cx="11800000" cy="43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5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5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&lt;&lt;TEAM NAME&gt;&gt;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SPECTRA content"/>
          <p:cNvSpPr txBox="1"/>
          <p:nvPr/>
        </p:nvSpPr>
        <p:spPr>
          <a:xfrm>
            <a:off x="182998" y="1680000"/>
            <a:ext cx="5600000" cy="48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Stack: Python 3.13 · NumPy / SciPy DSP core · PySide6 + matplotlib GUI · GNU Radio as the ingest layer · pytest · optional NumPy-only CNN · SigMF-style metadata sidecars · C++ kernels (planned).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Method: spectral detection → DDC isolation → parameter estimation (M-th power / QAM-specific / BFSK symbol-rate estimators) → Gardner timing and carrier recovery → waveform gates + constellation classification → per-modulation decisions → BER with an ambiguity search → FEC and interleaver identification → frame correlation.</a:t>
            </a:r>
          </a:p>
          <a:p>
            <a:pPr marL="0" algn="l"/>
            <a:r>
              <a:rPr lang="en-IN" sz="900" b="1" dirty="0">
                <a:solidFill>
                  <a:srgbClr val="0B4F6C"/>
                </a:solidFill>
              </a:rPr>
              <a:t>Measured: 435 tests passing · 11/11 demo captures classified correctly · symbol-rate error ≤ 0.059% · RS and concatenated payloads recovered bit-exactly (1024/1024) · flagship 16-QAM + concatenated + block: BER 0.0, 1024 bits decoded.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Automatic identification, measured honestly: FEC 3/3 on clean coded streams (confidence 70–83); interleaver AUTO_DETECTED at depth 8 with confidence 1.0 when a FEC-decode validator is supplied; end-to-end on lossy captures it returns UNKNOWN/UNRESOLVED — root cause and milestone on Slide 4.</a:t>
            </a:r>
          </a:p>
        </p:txBody>
      </p:sp>
      <p:pic>
        <p:nvPicPr>
          <p:cNvPr id="17413" name="SPECTRA figure 3-0"/>
          <p:cNvPicPr>
            <a:picLocks noChangeAspect="1"/>
          </p:cNvPicPr>
          <p:nvPr/>
        </p:nvPicPr>
        <p:blipFill>
          <a:blip r:embed="rIdSIH3"/>
          <a:stretch>
            <a:fillRect/>
          </a:stretch>
        </p:blipFill>
        <p:spPr>
          <a:xfrm>
            <a:off x="5950000" y="1520000"/>
            <a:ext cx="5781818" cy="4350000"/>
          </a:xfrm>
          <a:prstGeom prst="rect">
            <a:avLst/>
          </a:prstGeom>
        </p:spPr>
      </p:pic>
      <p:pic>
        <p:nvPicPr>
          <p:cNvPr id="17416" name="SPECTRA figure 3-1"/>
          <p:cNvPicPr>
            <a:picLocks noChangeAspect="1"/>
          </p:cNvPicPr>
          <p:nvPr/>
        </p:nvPicPr>
        <p:blipFill>
          <a:blip r:embed="rIdSIH32"/>
          <a:stretch>
            <a:fillRect/>
          </a:stretch>
        </p:blipFill>
        <p:spPr>
          <a:xfrm>
            <a:off x="182998" y="5980000"/>
            <a:ext cx="1920000" cy="720000"/>
          </a:xfrm>
          <a:prstGeom prst="rect">
            <a:avLst/>
          </a:prstGeom>
        </p:spPr>
      </p:pic>
      <p:pic>
        <p:nvPicPr>
          <p:cNvPr id="17420" name="SPECTRA figure 3-2"/>
          <p:cNvPicPr>
            <a:picLocks noChangeAspect="1"/>
          </p:cNvPicPr>
          <p:nvPr/>
        </p:nvPicPr>
        <p:blipFill>
          <a:blip r:embed="rIdSIH33"/>
          <a:stretch>
            <a:fillRect/>
          </a:stretch>
        </p:blipFill>
        <p:spPr>
          <a:xfrm>
            <a:off x="2120000" y="5980000"/>
            <a:ext cx="1920000" cy="720000"/>
          </a:xfrm>
          <a:prstGeom prst="rect">
            <a:avLst/>
          </a:prstGeom>
        </p:spPr>
      </p:pic>
      <p:pic>
        <p:nvPicPr>
          <p:cNvPr id="17425" name="SPECTRA figure 3-3"/>
          <p:cNvPicPr>
            <a:picLocks noChangeAspect="1"/>
          </p:cNvPicPr>
          <p:nvPr/>
        </p:nvPicPr>
        <p:blipFill>
          <a:blip r:embed="rIdSIH34"/>
          <a:stretch>
            <a:fillRect/>
          </a:stretch>
        </p:blipFill>
        <p:spPr>
          <a:xfrm>
            <a:off x="4060000" y="5980000"/>
            <a:ext cx="90000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50000"/>
            <a:ext cx="11800000" cy="43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85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&lt;&lt;TEAM NAME&gt;&gt;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SPECTRA content"/>
          <p:cNvSpPr txBox="1"/>
          <p:nvPr/>
        </p:nvSpPr>
        <p:spPr>
          <a:xfrm>
            <a:off x="182998" y="1680000"/>
            <a:ext cx="5600000" cy="48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Feasible: pure software, 100% open-source, fully offline, no RF emission — evaluation is safe and reproducible. Band-agnostic by construction: all analysis runs on baseband captures, so HF / VHF / UHF / GHz use one chain.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Demonstrated: 8 commits in 13 days produced the full pipeline, the GUI and 387 test functions (435 tests passing).</a:t>
            </a:r>
          </a:p>
          <a:p>
            <a:pPr marL="0" algn="l"/>
            <a:r>
              <a:rPr lang="en-IN" sz="950" b="1" dirty="0">
                <a:solidFill>
                  <a:srgbClr val="0B4F6C"/>
                </a:solidFill>
              </a:rPr>
              <a:t>Challenge → strategy, each measured:</a:t>
            </a:r>
          </a:p>
          <a:p>
            <a:pPr marL="0" algn="l"/>
            <a:r>
              <a:rPr lang="en-IN" sz="850" b="0" dirty="0">
                <a:solidFill>
                  <a:srgbClr val="1F2933"/>
                </a:solidFill>
              </a:rPr>
              <a:t>· Blind FEC ID: 3/3 correct on clean coded streams (conf 70–83); UNKNOWN end-to-end on lossy captures because the pulse-shaping tail is lost → partial-codeword and soft-decision evidence (M2).</a:t>
            </a:r>
          </a:p>
          <a:p>
            <a:pPr marL="0" algn="l"/>
            <a:r>
              <a:rPr lang="en-IN" sz="850" b="0" dirty="0">
                <a:solidFill>
                  <a:srgbClr val="1F2933"/>
                </a:solidFill>
              </a:rPr>
              <a:t>· Interleaver ID: AUTO_DETECTED, block, depth 8, confidence 1.0 with a FEC-decode validator; UNRESOLVED blind → wire the existing decoder as the validator (M1).</a:t>
            </a:r>
          </a:p>
          <a:p>
            <a:pPr marL="0" algn="l"/>
            <a:r>
              <a:rPr lang="en-IN" sz="850" b="0" dirty="0">
                <a:solidFill>
                  <a:srgbClr val="1F2933"/>
                </a:solidFill>
              </a:rPr>
              <a:t>· Cross-dataset transfer: 22–25% agreement on 1100 public RadioML frames, and raw-mode input collapsed to a single answer → run the full front-end, train the learning layer, gate abstention (M3).</a:t>
            </a:r>
          </a:p>
          <a:p>
            <a:pPr marL="0" algn="l"/>
            <a:r>
              <a:rPr lang="en-IN" sz="850" b="0" dirty="0">
                <a:solidFill>
                  <a:srgbClr val="1F2933"/>
                </a:solidFill>
              </a:rPr>
              <a:t>· Short records: symbol-rate error 84% at 512 samples while reporting 98.3 confidence → gate confidence by observation length (M4, cheapest win).</a:t>
            </a:r>
          </a:p>
          <a:p>
            <a:pPr marL="0" algn="l"/>
            <a:r>
              <a:rPr lang="en-IN" sz="850" b="0" dirty="0">
                <a:solidFill>
                  <a:srgbClr val="1F2933"/>
                </a:solidFill>
              </a:rPr>
              <a:t>· No live SDR: GNU Radio is an ingest interface today; hardware backend is roadmap (M5) — evaluation never depends on procurement.</a:t>
            </a:r>
          </a:p>
          <a:p>
            <a:pPr marL="0" algn="l"/>
            <a:r>
              <a:rPr lang="en-IN" sz="850" b="1" dirty="0">
                <a:solidFill>
                  <a:srgbClr val="0B4F6C"/>
                </a:solidFill>
              </a:rPr>
              <a:t>Viability: monitoring/SIGINT stations, SDR test benches, spectrum regulators and RF labs; workstation today, headless CLI for pipeline integration; zero licensing. Honest scope: validated on synthetic ground truth and a public benchmark slice — not on classified or operational recordings.</a:t>
            </a:r>
          </a:p>
        </p:txBody>
      </p:sp>
      <p:pic>
        <p:nvPicPr>
          <p:cNvPr id="17413" name="SPECTRA figure 4-0"/>
          <p:cNvPicPr>
            <a:picLocks noChangeAspect="1"/>
          </p:cNvPicPr>
          <p:nvPr/>
        </p:nvPicPr>
        <p:blipFill>
          <a:blip r:embed="rIdSIH4"/>
          <a:stretch>
            <a:fillRect/>
          </a:stretch>
        </p:blipFill>
        <p:spPr>
          <a:xfrm>
            <a:off x="6450000" y="1600000"/>
            <a:ext cx="5450000" cy="1937777"/>
          </a:xfrm>
          <a:prstGeom prst="rect">
            <a:avLst/>
          </a:prstGeom>
        </p:spPr>
      </p:pic>
      <p:pic>
        <p:nvPicPr>
          <p:cNvPr id="17416" name="SPECTRA figure 4-1"/>
          <p:cNvPicPr>
            <a:picLocks noChangeAspect="1"/>
          </p:cNvPicPr>
          <p:nvPr/>
        </p:nvPicPr>
        <p:blipFill>
          <a:blip r:embed="rIdSIH42"/>
          <a:stretch>
            <a:fillRect/>
          </a:stretch>
        </p:blipFill>
        <p:spPr>
          <a:xfrm>
            <a:off x="6450000" y="4050000"/>
            <a:ext cx="4178571" cy="2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50000"/>
            <a:ext cx="11800000" cy="43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&lt;&lt;TEAM NAME&gt;&gt;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SPECTRA content"/>
          <p:cNvSpPr txBox="1"/>
          <p:nvPr/>
        </p:nvSpPr>
        <p:spPr>
          <a:xfrm>
            <a:off x="182998" y="1680000"/>
            <a:ext cx="5600000" cy="48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Analysts: hours of manual parameter hunting become one automated pass — with the method and confidence recorded, so the result can be defended.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Sensor engineering: the parameters this tool extracts are exactly the inputs needed to configure sensors. An honest Unknown prevents a mis-configured sensor; a confident wrong answer causes one.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Monitoring stations: consistent, reproducible extraction instead of operator-specific notes; batch mode sweeps every candidate in a wide capture.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Regulators, responders and labs: fast identification of unknown or legacy emitters during interference investigations, disaster communications and RF teaching.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Strategic / national: indigenous, offline, self-hosted spectrum tooling — no cloud dependency, no foreign closed-source licences (Atmanirbhar Bharat).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Economic: zero licensing cost, commodity hardware, convertible into a workstation product or an API for existing collection chains.</a:t>
            </a:r>
          </a:p>
          <a:p>
            <a:pPr marL="0" algn="l"/>
            <a:r>
              <a:rPr lang="en-IN" sz="950" b="0" dirty="0">
                <a:solidFill>
                  <a:srgbClr val="1F2933"/>
                </a:solidFill>
              </a:rPr>
              <a:t>Social / educational: a documented, reproducible DSP testbed — including the negative results — for training the next cohort of RF analysts.</a:t>
            </a:r>
          </a:p>
          <a:p>
            <a:pPr marL="0" algn="l"/>
            <a:r>
              <a:rPr lang="en-IN" sz="950" b="1" dirty="0">
                <a:solidFill>
                  <a:srgbClr val="0B4F6C"/>
                </a:solidFill>
              </a:rPr>
              <a:t>Long term: analyst-confirmed identifications grow a signal-fingerprint library, turning isolated captures into a queryable national signal knowledge base.</a:t>
            </a:r>
          </a:p>
        </p:txBody>
      </p:sp>
      <p:pic>
        <p:nvPicPr>
          <p:cNvPr id="17413" name="SPECTRA figure 5-0"/>
          <p:cNvPicPr>
            <a:picLocks noChangeAspect="1"/>
          </p:cNvPicPr>
          <p:nvPr/>
        </p:nvPicPr>
        <p:blipFill>
          <a:blip r:embed="rIdSIH5"/>
          <a:stretch>
            <a:fillRect/>
          </a:stretch>
        </p:blipFill>
        <p:spPr>
          <a:xfrm>
            <a:off x="6700000" y="1600000"/>
            <a:ext cx="2875000" cy="2300000"/>
          </a:xfrm>
          <a:prstGeom prst="rect">
            <a:avLst/>
          </a:prstGeom>
        </p:spPr>
      </p:pic>
      <p:pic>
        <p:nvPicPr>
          <p:cNvPr id="17416" name="SPECTRA figure 5-1"/>
          <p:cNvPicPr>
            <a:picLocks noChangeAspect="1"/>
          </p:cNvPicPr>
          <p:nvPr/>
        </p:nvPicPr>
        <p:blipFill>
          <a:blip r:embed="rIdSIH52"/>
          <a:stretch>
            <a:fillRect/>
          </a:stretch>
        </p:blipFill>
        <p:spPr>
          <a:xfrm>
            <a:off x="6700000" y="4250000"/>
            <a:ext cx="4666666" cy="1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50000"/>
            <a:ext cx="11800000" cy="43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&lt;&lt;TEAM NAME&gt;&gt;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SPECTRA content A"/>
          <p:cNvSpPr txBox="1"/>
          <p:nvPr/>
        </p:nvSpPr>
        <p:spPr>
          <a:xfrm>
            <a:off x="182998" y="1680000"/>
            <a:ext cx="5700000" cy="47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algn="l"/>
            <a:r>
              <a:rPr lang="en-IN" sz="1000" b="1" dirty="0">
                <a:solidFill>
                  <a:srgbClr val="0B4F6C"/>
                </a:solidFill>
              </a:rPr>
              <a:t>Benchmark used directly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· O'Shea et al., RadioML 2016.10a / 2018.01A (DeepSig) — the public AMC benchmark; our offline harness evaluates 1100 public frames and reports the cross-dataset gap.</a:t>
            </a:r>
          </a:p>
          <a:p>
            <a:pPr marL="0" algn="l"/>
            <a:r>
              <a:rPr lang="en-IN" sz="1000" b="1" dirty="0">
                <a:solidFill>
                  <a:srgbClr val="0B4F6C"/>
                </a:solidFill>
              </a:rPr>
              <a:t>Blind code and interleaver recognition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· ConvLSTM-TFN (Sensors 2025): &gt;90% convolutional-code identification above 0 dB SNR — the accuracy target for our FEC-ID roadmap.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· CRANet (2025); dual-branch CNN (Sci. Rep. 2026) — DL blind code recognition under heterogeneous signals.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· Ahamed et al., IEEE Access 2024 — blind interleaver recognition with deep learning; Wee, Choi &amp; Jeong — depth estimation from Hamming-weight distributions.</a:t>
            </a:r>
          </a:p>
        </p:txBody>
      </p:sp>
      <p:sp>
        <p:nvSpPr>
          <p:cNvPr id="17412" name="SPECTRA content B"/>
          <p:cNvSpPr txBox="1"/>
          <p:nvPr/>
        </p:nvSpPr>
        <p:spPr>
          <a:xfrm>
            <a:off x="6250000" y="1680000"/>
            <a:ext cx="5700000" cy="47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algn="l"/>
            <a:r>
              <a:rPr lang="en-IN" sz="1000" b="1" dirty="0">
                <a:solidFill>
                  <a:srgbClr val="0B4F6C"/>
                </a:solidFill>
              </a:rPr>
              <a:t>Standards that define our template library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· MIL-STD-188-110C and STANAG 4285/4539 — HF serial tone (convolutional + block interleaving): the terrestrial bands in the statement.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· CCSDS 131.0-B — RS + convolutional, turbo, LDPC. · DVB-S2 — LDPC + BCH with block interleaving. · 3GPP channel coding.</a:t>
            </a:r>
          </a:p>
          <a:p>
            <a:pPr marL="0" algn="l"/>
            <a:r>
              <a:rPr lang="en-IN" sz="1000" b="1" dirty="0">
                <a:solidFill>
                  <a:srgbClr val="0B4F6C"/>
                </a:solidFill>
              </a:rPr>
              <a:t>Tooling and metadata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· GNU Radio (acquisition interface) · SigMF, Hilburn GRCon 2018 (the metadata standard our sidecars align with) · PySDR · inspectrum · Universal Radio Hacker.</a:t>
            </a:r>
          </a:p>
          <a:p>
            <a:pPr marL="0" algn="l"/>
            <a:r>
              <a:rPr lang="en-IN" sz="1000" b="1" dirty="0">
                <a:solidFill>
                  <a:srgbClr val="0B4F6C"/>
                </a:solidFill>
              </a:rPr>
              <a:t>Classical links</a:t>
            </a:r>
          </a:p>
          <a:p>
            <a:pPr marL="0" algn="l"/>
            <a:r>
              <a:rPr lang="en-IN" sz="900" b="0" dirty="0">
                <a:solidFill>
                  <a:srgbClr val="1F2933"/>
                </a:solidFill>
              </a:rPr>
              <a:t>· Gardner timing recovery · Costas loop · cyclostationary symbol-rate estimation · M-th power carrier-phase estimation.</a:t>
            </a:r>
          </a:p>
          <a:p>
            <a:pPr marL="0" algn="l"/>
            <a:r>
              <a:rPr lang="en-IN" sz="850" b="1" dirty="0">
                <a:solidFill>
                  <a:srgbClr val="0B4F6C"/>
                </a:solidFill>
              </a:rPr>
              <a:t>Links: GitHub &lt;&lt;GITHUB LINK&gt;&gt; · demo &lt;&lt;DEMO VIDEO LINK&gt;&gt; · deepsig.ai/datasets · public mirror zenodo.org/records/18397070 · sigmf.org · wiki.gnuradio.org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